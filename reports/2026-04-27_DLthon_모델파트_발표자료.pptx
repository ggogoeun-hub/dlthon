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22222"/>
                </a:solidFill>
              </a:defRPr>
            </a:pPr>
            <a:r>
              <a:t>DLthon DKTC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22222"/>
                </a:solidFill>
              </a:defRPr>
            </a:pPr>
            <a:r>
              <a:t>모델 선정 및 개선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한국어 위협 대화 5-Class 분류  |  아이펠 온라인 17기  |  2026-04-27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73E8"/>
                </a:solidFill>
              </a:defRPr>
            </a:pPr>
            <a:r>
              <a:t>총 실험 15+건  |  Val F1 0.9115  |  Test 일반대화 88/100건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2222"/>
                </a:solidFill>
              </a:defRPr>
            </a:pPr>
            <a:r>
              <a:t>실험 설계 — 3단계 Ablation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</a:defRPr>
            </a:pPr>
            <a:r>
              <a:t>Stage 1  백본 모델 선정</a:t>
            </a:r>
          </a:p>
          <a:p>
            <a:pPr>
              <a:defRPr sz="1600" b="0">
                <a:solidFill>
                  <a:srgbClr val="666666"/>
                </a:solidFill>
              </a:defRPr>
            </a:pPr>
            <a:r>
              <a:t>  고정: 학습률, 에폭    탐색: 모델(KcELECTRA vs RoBERTa), MAX_LEN, 데이터</a:t>
            </a:r>
          </a:p>
          <a:p>
            <a:pPr>
              <a:defRPr sz="1000" b="0">
                <a:solidFill>
                  <a:srgbClr val="222222"/>
                </a:solidFill>
              </a:defRPr>
            </a:pPr>
          </a:p>
          <a:p>
            <a:pPr>
              <a:defRPr sz="2200" b="1">
                <a:solidFill>
                  <a:srgbClr val="1A73E8"/>
                </a:solidFill>
              </a:defRPr>
            </a:pPr>
            <a:r>
              <a:t>Stage 2  학습 전략 최적화</a:t>
            </a:r>
          </a:p>
          <a:p>
            <a:pPr>
              <a:defRPr sz="1600" b="0">
                <a:solidFill>
                  <a:srgbClr val="666666"/>
                </a:solidFill>
              </a:defRPr>
            </a:pPr>
            <a:r>
              <a:t>  고정: RoBERTa         탐색: 차등 LR, Dropout, Label Smoothing</a:t>
            </a:r>
          </a:p>
          <a:p>
            <a:pPr>
              <a:defRPr sz="1000" b="0">
                <a:solidFill>
                  <a:srgbClr val="222222"/>
                </a:solidFill>
              </a:defRPr>
            </a:pPr>
          </a:p>
          <a:p>
            <a:pPr>
              <a:defRPr sz="2200" b="1">
                <a:solidFill>
                  <a:srgbClr val="1A73E8"/>
                </a:solidFill>
              </a:defRPr>
            </a:pPr>
            <a:r>
              <a:t>Stage 3  인코더 출력 활용 (풀링 구조)</a:t>
            </a:r>
          </a:p>
          <a:p>
            <a:pPr>
              <a:defRPr sz="1600" b="0">
                <a:solidFill>
                  <a:srgbClr val="666666"/>
                </a:solidFill>
              </a:defRPr>
            </a:pPr>
            <a:r>
              <a:t>  고정: 모델+학습전략   탐색: Ending / Speaker-aware / Multi-head</a:t>
            </a:r>
          </a:p>
          <a:p>
            <a:pPr>
              <a:defRPr sz="1400" b="0">
                <a:solidFill>
                  <a:srgbClr val="222222"/>
                </a:solidFill>
              </a:defRPr>
            </a:pPr>
          </a:p>
          <a:p>
            <a:pPr>
              <a:defRPr sz="1800" b="1">
                <a:solidFill>
                  <a:srgbClr val="222222"/>
                </a:solidFill>
              </a:defRPr>
            </a:pPr>
            <a:r>
              <a:t>원칙: 각 단계에서 확정된 최적 설정을 다음 단계로 이월 → 변수 분리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2222"/>
                </a:solidFill>
              </a:defRPr>
            </a:pPr>
            <a:r>
              <a:t>Stage 1: 백본 모델 선정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</a:defRPr>
            </a:pPr>
            <a:r>
              <a:t>실험 결과</a:t>
            </a:r>
          </a:p>
          <a:p>
            <a:pPr>
              <a:defRPr sz="800" b="0">
                <a:solidFill>
                  <a:srgbClr val="222222"/>
                </a:solidFill>
              </a:defRPr>
            </a:pPr>
          </a:p>
          <a:p>
            <a:pPr>
              <a:defRPr sz="1500" b="0">
                <a:solidFill>
                  <a:srgbClr val="666666"/>
                </a:solidFill>
              </a:defRPr>
            </a:pPr>
            <a:r>
              <a:t>B01   KcELECTRA   max128   Val 0.9219     시작점</a:t>
            </a:r>
          </a:p>
          <a:p>
            <a:pPr>
              <a:defRPr sz="1500" b="0">
                <a:solidFill>
                  <a:srgbClr val="188A38"/>
                </a:solidFill>
              </a:defRPr>
            </a:pPr>
            <a:r>
              <a:t>S02   KcELECTRA   max256   Val 0.9369     MAX_LEN 효과 +1.5%p</a:t>
            </a:r>
          </a:p>
          <a:p>
            <a:pPr>
              <a:defRPr sz="1500" b="0">
                <a:solidFill>
                  <a:srgbClr val="188A38"/>
                </a:solidFill>
              </a:defRPr>
            </a:pPr>
            <a:r>
              <a:t>B02   KcELECTRA   15k균형   Val 0.9902     데이터 균형 효과 (점프)</a:t>
            </a:r>
          </a:p>
          <a:p>
            <a:pPr>
              <a:defRPr sz="1500" b="1">
                <a:solidFill>
                  <a:srgbClr val="1A73E8"/>
                </a:solidFill>
              </a:defRPr>
            </a:pPr>
            <a:r>
              <a:t>B04   RoBERTa    15k균형   Val 0.9916     모델 효과 확인 ★</a:t>
            </a:r>
          </a:p>
          <a:p>
            <a:pPr>
              <a:defRPr sz="1500" b="0">
                <a:solidFill>
                  <a:srgbClr val="666666"/>
                </a:solidFill>
              </a:defRPr>
            </a:pPr>
            <a:r>
              <a:t>B04b  KcELECTRA   15k균형   Val 0.9898     동일 데이터, 모델만 다름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</a:defRPr>
            </a:pPr>
            <a:r>
              <a:t>핵심 발견</a:t>
            </a:r>
          </a:p>
          <a:p>
            <a:pPr>
              <a:defRPr sz="600" b="0">
                <a:solidFill>
                  <a:srgbClr val="222222"/>
                </a:solidFill>
              </a:defRPr>
            </a:pPr>
          </a:p>
          <a:p>
            <a:pPr>
              <a:defRPr sz="1600" b="0">
                <a:solidFill>
                  <a:srgbClr val="222222"/>
                </a:solidFill>
              </a:defRPr>
            </a:pPr>
            <a:r>
              <a:t>1) MAX_LEN 128→256: +1.5%p — 대화 길이 특성상 256 필수</a:t>
            </a:r>
          </a:p>
          <a:p>
            <a:pPr>
              <a:defRPr sz="1600" b="0">
                <a:solidFill>
                  <a:srgbClr val="222222"/>
                </a:solidFill>
              </a:defRPr>
            </a:pPr>
            <a:r>
              <a:t>2) 15k 균형 데이터: 0.93→0.99 — 데이터가 모델보다 중요</a:t>
            </a:r>
          </a:p>
          <a:p>
            <a:pPr>
              <a:defRPr sz="1600" b="0">
                <a:solidFill>
                  <a:srgbClr val="222222"/>
                </a:solidFill>
              </a:defRPr>
            </a:pPr>
            <a:r>
              <a:t>3) RoBERTa &gt; KcELECTRA: +0.18%p — 문맥 파악 우위</a:t>
            </a:r>
          </a:p>
          <a:p>
            <a:pPr>
              <a:defRPr sz="600" b="0">
                <a:solidFill>
                  <a:srgbClr val="222222"/>
                </a:solidFill>
              </a:defRPr>
            </a:pPr>
          </a:p>
          <a:p>
            <a:pPr>
              <a:defRPr sz="1800" b="1">
                <a:solidFill>
                  <a:srgbClr val="1A73E8"/>
                </a:solidFill>
              </a:defRPr>
            </a:pPr>
            <a:r>
              <a:t>→ 확정: klue/roberta-base + MAX_LEN=256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2222"/>
                </a:solidFill>
              </a:defRPr>
            </a:pPr>
            <a:r>
              <a:t>Stage 2: 학습 전략 최적화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</a:defRPr>
            </a:pPr>
            <a:r>
              <a:t>차등 학습률 (Differential LR)</a:t>
            </a:r>
          </a:p>
          <a:p>
            <a:pPr>
              <a:defRPr sz="600" b="0">
                <a:solidFill>
                  <a:srgbClr val="222222"/>
                </a:solidFill>
              </a:defRPr>
            </a:pPr>
          </a:p>
          <a:p>
            <a:pPr>
              <a:defRPr sz="1500" b="0">
                <a:solidFill>
                  <a:srgbClr val="222222"/>
                </a:solidFill>
              </a:defRPr>
            </a:pPr>
            <a:r>
              <a:t>백본(사전학습 보존)  →  작은 LR (2e-6)</a:t>
            </a:r>
          </a:p>
          <a:p>
            <a:pPr>
              <a:defRPr sz="1500" b="0">
                <a:solidFill>
                  <a:srgbClr val="222222"/>
                </a:solidFill>
              </a:defRPr>
            </a:pPr>
            <a:r>
              <a:t>헤드(새로 학습)      →  큰 LR (2e-5)</a:t>
            </a:r>
          </a:p>
          <a:p>
            <a:pPr>
              <a:defRPr sz="800" b="0">
                <a:solidFill>
                  <a:srgbClr val="222222"/>
                </a:solidFill>
              </a:defRPr>
            </a:pPr>
          </a:p>
          <a:p>
            <a:pPr>
              <a:defRPr sz="1500" b="0">
                <a:solidFill>
                  <a:srgbClr val="666666"/>
                </a:solidFill>
              </a:defRPr>
            </a:pPr>
            <a:r>
              <a:t>차등 1배  →  Test 69건</a:t>
            </a:r>
          </a:p>
          <a:p>
            <a:pPr>
              <a:defRPr sz="1500" b="0">
                <a:solidFill>
                  <a:srgbClr val="666666"/>
                </a:solidFill>
              </a:defRPr>
            </a:pPr>
            <a:r>
              <a:t>차등 5배  →  Test 74건</a:t>
            </a:r>
          </a:p>
          <a:p>
            <a:pPr>
              <a:defRPr sz="1500" b="1">
                <a:solidFill>
                  <a:srgbClr val="1A73E8"/>
                </a:solidFill>
              </a:defRPr>
            </a:pPr>
            <a:r>
              <a:t>차등 10배 →  Test 77건 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</a:defRPr>
            </a:pPr>
            <a:r>
              <a:t>기타 최적화</a:t>
            </a:r>
          </a:p>
          <a:p>
            <a:pPr>
              <a:defRPr sz="600" b="0">
                <a:solidFill>
                  <a:srgbClr val="222222"/>
                </a:solidFill>
              </a:defRPr>
            </a:pPr>
          </a:p>
          <a:p>
            <a:pPr>
              <a:defRPr sz="1500" b="0">
                <a:solidFill>
                  <a:srgbClr val="222222"/>
                </a:solidFill>
              </a:defRPr>
            </a:pPr>
            <a:r>
              <a:t>레이어 동결: 하위 9층 (80%) 동결</a:t>
            </a:r>
          </a:p>
          <a:p>
            <a:pPr>
              <a:defRPr sz="1400" b="0">
                <a:solidFill>
                  <a:srgbClr val="666666"/>
                </a:solidFill>
              </a:defRPr>
            </a:pPr>
            <a:r>
              <a:t>  → 일반 언어 지식 보존</a:t>
            </a:r>
          </a:p>
          <a:p>
            <a:pPr>
              <a:defRPr sz="1400" b="0">
                <a:solidFill>
                  <a:srgbClr val="666666"/>
                </a:solidFill>
              </a:defRPr>
            </a:pPr>
            <a:r>
              <a:t>  → 상위 3층만 위협 분류 특화</a:t>
            </a:r>
          </a:p>
          <a:p>
            <a:pPr>
              <a:defRPr sz="600" b="0">
                <a:solidFill>
                  <a:srgbClr val="222222"/>
                </a:solidFill>
              </a:defRPr>
            </a:pPr>
          </a:p>
          <a:p>
            <a:pPr>
              <a:defRPr sz="1500" b="0">
                <a:solidFill>
                  <a:srgbClr val="222222"/>
                </a:solidFill>
              </a:defRPr>
            </a:pPr>
            <a:r>
              <a:t>Label Smoothing 0.1</a:t>
            </a:r>
          </a:p>
          <a:p>
            <a:pPr>
              <a:defRPr sz="1400" b="0">
                <a:solidFill>
                  <a:srgbClr val="188A38"/>
                </a:solidFill>
              </a:defRPr>
            </a:pPr>
            <a:r>
              <a:t>  → Val +0.4%p, Test +3건</a:t>
            </a:r>
          </a:p>
          <a:p>
            <a:pPr>
              <a:defRPr sz="600" b="0">
                <a:solidFill>
                  <a:srgbClr val="222222"/>
                </a:solidFill>
              </a:defRPr>
            </a:pPr>
          </a:p>
          <a:p>
            <a:pPr>
              <a:defRPr sz="1500" b="0">
                <a:solidFill>
                  <a:srgbClr val="666666"/>
                </a:solidFill>
              </a:defRPr>
            </a:pPr>
            <a:r>
              <a:t>Dropout: 0.1 ≈ 0.3 ≈ 0.5 (차이 없음)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</a:defRPr>
            </a:pPr>
            <a:r>
              <a:t>확정: Backbone 2e-6 / Head 2e-5 (10배) + 동결 9층 + LS 0.1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2222"/>
                </a:solidFill>
              </a:defRPr>
            </a:pPr>
            <a:r>
              <a:t>Stage 3: 풀링 구조 실험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</a:defRPr>
            </a:pPr>
            <a:r>
              <a:t>Ending Pooling: 마지막 64토큰만 풀링 → 마무리 톤 분석</a:t>
            </a:r>
          </a:p>
          <a:p>
            <a:pPr>
              <a:defRPr sz="1600" b="0">
                <a:solidFill>
                  <a:srgbClr val="222222"/>
                </a:solidFill>
              </a:defRPr>
            </a:pPr>
            <a:r>
              <a:t>Speaker-aware: 짝수/홀수 포지션 분리 → 화자 구분 시도</a:t>
            </a:r>
          </a:p>
          <a:p>
            <a:pPr>
              <a:defRPr sz="1600" b="0">
                <a:solidFill>
                  <a:srgbClr val="222222"/>
                </a:solidFill>
              </a:defRPr>
            </a:pPr>
            <a:r>
              <a:t>Multi-head: Mean Pool + 보조 헤드 3개(equality, ending, threat) → 다관점 신호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</a:defRPr>
            </a:pPr>
            <a:r>
              <a:t>                        3 Epoch                    6 Epoch</a:t>
            </a:r>
          </a:p>
          <a:p>
            <a:pPr>
              <a:defRPr sz="600" b="0">
                <a:solidFill>
                  <a:srgbClr val="222222"/>
                </a:solidFill>
              </a:defRPr>
            </a:pPr>
          </a:p>
          <a:p>
            <a:pPr>
              <a:defRPr sz="1600" b="0">
                <a:solidFill>
                  <a:srgbClr val="222222"/>
                </a:solidFill>
              </a:defRPr>
            </a:pPr>
            <a:r>
              <a:t>Ending Pooling     Val 0.8808  /  78건        Val 0.8994  /  84건</a:t>
            </a:r>
          </a:p>
          <a:p>
            <a:pPr>
              <a:defRPr sz="1600" b="0">
                <a:solidFill>
                  <a:srgbClr val="222222"/>
                </a:solidFill>
              </a:defRPr>
            </a:pPr>
            <a:r>
              <a:t>Speaker-aware      Val 0.8947  /  85건        Val 0.9113  /  85건</a:t>
            </a:r>
          </a:p>
          <a:p>
            <a:pPr>
              <a:defRPr sz="1600" b="1">
                <a:solidFill>
                  <a:srgbClr val="1A73E8"/>
                </a:solidFill>
              </a:defRPr>
            </a:pPr>
            <a:r>
              <a:t>Multi-head         Val 0.8848  /  84건        Val 0.9115  /  88건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2222"/>
                </a:solidFill>
              </a:defRPr>
            </a:pPr>
            <a:r>
              <a:t>순위 역전: 3ep에서 Speaker-aware 1위 → 6ep에서 Multi-head가 역전</a:t>
            </a:r>
          </a:p>
          <a:p>
            <a:pPr>
              <a:defRPr sz="1500" b="0">
                <a:solidFill>
                  <a:srgbClr val="666666"/>
                </a:solidFill>
              </a:defRPr>
            </a:pPr>
            <a:r>
              <a:t>Multi-head는 수렴이 느리지만 충분한 학습 시 더 높은 성능 도달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2222"/>
                </a:solidFill>
              </a:defRPr>
            </a:pPr>
            <a:r>
              <a:t>모델 내부 — 토크나이저에서 분류까지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</a:defRPr>
            </a:pPr>
            <a:r>
              <a:t>(1) 토크나이저 (WordPiece, vocab 32,000)</a:t>
            </a:r>
          </a:p>
          <a:p>
            <a:pPr>
              <a:defRPr sz="1500" b="0">
                <a:solidFill>
                  <a:srgbClr val="222222"/>
                </a:solidFill>
              </a:defRPr>
            </a:pPr>
            <a:r>
              <a:t>    "찾아야겠다" → 찾아 | ##야 | ##겠다   (서브워드 분리)</a:t>
            </a:r>
          </a:p>
          <a:p>
            <a:pPr>
              <a:defRPr sz="800" b="0">
                <a:solidFill>
                  <a:srgbClr val="222222"/>
                </a:solidFill>
              </a:defRPr>
            </a:pPr>
          </a:p>
          <a:p>
            <a:pPr>
              <a:defRPr sz="1800" b="1">
                <a:solidFill>
                  <a:srgbClr val="1A73E8"/>
                </a:solidFill>
              </a:defRPr>
            </a:pPr>
            <a:r>
              <a:t>(2) 임베딩 (768차원)</a:t>
            </a:r>
          </a:p>
          <a:p>
            <a:pPr>
              <a:defRPr sz="1500" b="0">
                <a:solidFill>
                  <a:srgbClr val="222222"/>
                </a:solidFill>
              </a:defRPr>
            </a:pPr>
            <a:r>
              <a:t>    Token Embedding(의미) + Position Embedding(위치) → LayerNorm</a:t>
            </a:r>
          </a:p>
          <a:p>
            <a:pPr>
              <a:defRPr sz="1400" b="0">
                <a:solidFill>
                  <a:srgbClr val="666666"/>
                </a:solidFill>
              </a:defRPr>
            </a:pPr>
            <a:r>
              <a:t>    "빨리" vs "얼른" 유사도 0.56  /  "." vs "?" 유사도 0.14</a:t>
            </a:r>
          </a:p>
          <a:p>
            <a:pPr>
              <a:defRPr sz="800" b="0">
                <a:solidFill>
                  <a:srgbClr val="222222"/>
                </a:solidFill>
              </a:defRPr>
            </a:pPr>
          </a:p>
          <a:p>
            <a:pPr>
              <a:defRPr sz="1800" b="1">
                <a:solidFill>
                  <a:srgbClr val="1A73E8"/>
                </a:solidFill>
              </a:defRPr>
            </a:pPr>
            <a:r>
              <a:t>(3) Transformer 인코더 12층 (Self-Attention)</a:t>
            </a:r>
          </a:p>
          <a:p>
            <a:pPr>
              <a:defRPr sz="1500" b="0">
                <a:solidFill>
                  <a:srgbClr val="222222"/>
                </a:solidFill>
              </a:defRPr>
            </a:pPr>
            <a:r>
              <a:t>    같은 "죽어"도 주변 맥락에 따라 다른 벡터로 변환:</a:t>
            </a:r>
          </a:p>
          <a:p>
            <a:pPr>
              <a:defRPr sz="1500" b="0">
                <a:solidFill>
                  <a:srgbClr val="188A38"/>
                </a:solidFill>
              </a:defRPr>
            </a:pPr>
            <a:r>
              <a:t>    "늦으면 다 죽어 내가 운전할" → 게임 맥락</a:t>
            </a:r>
          </a:p>
          <a:p>
            <a:pPr>
              <a:defRPr sz="1500" b="0">
                <a:solidFill>
                  <a:srgbClr val="D93025"/>
                </a:solidFill>
              </a:defRPr>
            </a:pPr>
            <a:r>
              <a:t>    "시키는 대로 안 하면 죽어"   → 위협 맥락</a:t>
            </a:r>
          </a:p>
          <a:p>
            <a:pPr>
              <a:defRPr sz="800" b="0">
                <a:solidFill>
                  <a:srgbClr val="222222"/>
                </a:solidFill>
              </a:defRPr>
            </a:pPr>
          </a:p>
          <a:p>
            <a:pPr>
              <a:defRPr sz="1800" b="1">
                <a:solidFill>
                  <a:srgbClr val="1A73E8"/>
                </a:solidFill>
              </a:defRPr>
            </a:pPr>
            <a:r>
              <a:t>(4) 풀링 → 분류 헤드</a:t>
            </a:r>
          </a:p>
          <a:p>
            <a:pPr>
              <a:defRPr sz="1500" b="0">
                <a:solidFill>
                  <a:srgbClr val="222222"/>
                </a:solidFill>
              </a:defRPr>
            </a:pPr>
            <a:r>
              <a:t>    (토큰수, 768) → Mean Pool → (768,) → FC(768→256) → FC(256→5) → 확률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2222"/>
                </a:solidFill>
              </a:defRPr>
            </a:pPr>
            <a:r>
              <a:t>숏컷 학습 발견 — 왜 88건에서 멈추는가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2222"/>
                </a:solidFill>
              </a:defRPr>
            </a:pPr>
            <a:r>
              <a:t>길이별 일반대화 예측 비율</a:t>
            </a:r>
          </a:p>
          <a:p>
            <a:pPr>
              <a:defRPr sz="600" b="0">
                <a:solidFill>
                  <a:srgbClr val="222222"/>
                </a:solidFill>
              </a:defRPr>
            </a:pPr>
          </a:p>
          <a:p>
            <a:pPr>
              <a:defRPr sz="1600" b="0">
                <a:solidFill>
                  <a:srgbClr val="222222"/>
                </a:solidFill>
              </a:defRPr>
            </a:pPr>
            <a:r>
              <a:t>0~120자    25.0%</a:t>
            </a:r>
          </a:p>
          <a:p>
            <a:pPr>
              <a:defRPr sz="1600" b="0">
                <a:solidFill>
                  <a:srgbClr val="222222"/>
                </a:solidFill>
              </a:defRPr>
            </a:pPr>
            <a:r>
              <a:t>121~200자  23.3%</a:t>
            </a:r>
          </a:p>
          <a:p>
            <a:pPr>
              <a:defRPr sz="1600" b="0">
                <a:solidFill>
                  <a:srgbClr val="D93025"/>
                </a:solidFill>
              </a:defRPr>
            </a:pPr>
            <a:r>
              <a:t>201~250자  12.8%  ↓</a:t>
            </a:r>
          </a:p>
          <a:p>
            <a:pPr>
              <a:defRPr sz="1600" b="0">
                <a:solidFill>
                  <a:srgbClr val="D93025"/>
                </a:solidFill>
              </a:defRPr>
            </a:pPr>
            <a:r>
              <a:t>251자+      7.1%  ↓↓</a:t>
            </a:r>
          </a:p>
          <a:p>
            <a:pPr>
              <a:defRPr sz="600" b="0">
                <a:solidFill>
                  <a:srgbClr val="222222"/>
                </a:solidFill>
              </a:defRPr>
            </a:pPr>
          </a:p>
          <a:p>
            <a:pPr>
              <a:defRPr sz="1400" b="0">
                <a:solidFill>
                  <a:srgbClr val="666666"/>
                </a:solidFill>
              </a:defRPr>
            </a:pPr>
            <a:r>
              <a:t>Train 일반 평균 122자 vs 위협 214자</a:t>
            </a:r>
          </a:p>
          <a:p>
            <a:pPr>
              <a:defRPr sz="1500" b="0">
                <a:solidFill>
                  <a:srgbClr val="D93025"/>
                </a:solidFill>
              </a:defRPr>
            </a:pPr>
            <a:r>
              <a:t>→ 긴 대화를 일반으로 인식 못함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2222"/>
                </a:solidFill>
              </a:defRPr>
            </a:pPr>
            <a:r>
              <a:t>합성 데이터 분포 불일치</a:t>
            </a:r>
          </a:p>
          <a:p>
            <a:pPr>
              <a:defRPr sz="600" b="0">
                <a:solidFill>
                  <a:srgbClr val="222222"/>
                </a:solidFill>
              </a:defRPr>
            </a:pPr>
          </a:p>
          <a:p>
            <a:pPr>
              <a:defRPr sz="1400" b="0">
                <a:solidFill>
                  <a:srgbClr val="666666"/>
                </a:solidFill>
              </a:defRPr>
            </a:pPr>
            <a:r>
              <a:t>             Train일반   Train위협   Test</a:t>
            </a:r>
          </a:p>
          <a:p>
            <a:pPr>
              <a:defRPr sz="1500" b="0">
                <a:solidFill>
                  <a:srgbClr val="222222"/>
                </a:solidFill>
              </a:defRPr>
            </a:pPr>
            <a:r>
              <a:t>마침표     0.35개     5.97개    4.99개</a:t>
            </a:r>
          </a:p>
          <a:p>
            <a:pPr>
              <a:defRPr sz="1500" b="0">
                <a:solidFill>
                  <a:srgbClr val="222222"/>
                </a:solidFill>
              </a:defRPr>
            </a:pPr>
            <a:r>
              <a:t>길이      122자      214자     214자</a:t>
            </a:r>
          </a:p>
          <a:p>
            <a:pPr>
              <a:defRPr sz="1500" b="0">
                <a:solidFill>
                  <a:srgbClr val="222222"/>
                </a:solidFill>
              </a:defRPr>
            </a:pPr>
            <a:r>
              <a:t>토큰      60개      109개     116개</a:t>
            </a:r>
          </a:p>
          <a:p>
            <a:pPr>
              <a:defRPr sz="600" b="0">
                <a:solidFill>
                  <a:srgbClr val="222222"/>
                </a:solidFill>
              </a:defRPr>
            </a:pPr>
          </a:p>
          <a:p>
            <a:pPr>
              <a:defRPr sz="1500" b="1">
                <a:solidFill>
                  <a:srgbClr val="D93025"/>
                </a:solidFill>
              </a:defRPr>
            </a:pPr>
            <a:r>
              <a:t>일반대화만 분포가 다름 → 모델 한계가 아닌 데이터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2222"/>
                </a:solidFill>
              </a:defRPr>
            </a:pPr>
            <a:r>
              <a:t>본질: 숏컷이 유일한 기준은 아님 (구두점 0개여도 위협 분류 가능)</a:t>
            </a:r>
          </a:p>
          <a:p>
            <a:pPr>
              <a:defRPr sz="1500" b="0">
                <a:solidFill>
                  <a:srgbClr val="666666"/>
                </a:solidFill>
              </a:defRPr>
            </a:pPr>
            <a:r>
              <a:t>하지만 합성 일반대화의 길이/문체가 실제 대화와 달라서 모델이 다양한 일반대화를 학습하지 못함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2222"/>
                </a:solidFill>
              </a:defRPr>
            </a:pPr>
            <a:r>
              <a:t>구조 재평가 — 설계 의도 vs 실제 구현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2222"/>
                </a:solidFill>
              </a:defRPr>
            </a:pPr>
            <a:r>
              <a:t>코드 레벨 검증 결과</a:t>
            </a:r>
          </a:p>
          <a:p>
            <a:pPr>
              <a:defRPr sz="600" b="0">
                <a:solidFill>
                  <a:srgbClr val="222222"/>
                </a:solidFill>
              </a:defRPr>
            </a:pPr>
          </a:p>
          <a:p>
            <a:pPr>
              <a:defRPr sz="1600" b="0">
                <a:solidFill>
                  <a:srgbClr val="D93025"/>
                </a:solidFill>
              </a:defRPr>
            </a:pPr>
            <a:r>
              <a:t>Multi-head     3개 헤드가 같은 mean pool 입력 → 다른 관점이 아닌 차원 추가     ✗</a:t>
            </a:r>
          </a:p>
          <a:p>
            <a:pPr>
              <a:defRPr sz="1600" b="0">
                <a:solidFill>
                  <a:srgbClr val="D93025"/>
                </a:solidFill>
              </a:defRPr>
            </a:pPr>
            <a:r>
              <a:t>Speaker-aware  토큰 짝홀수 분리 ≠ 실제 화자 구분 (턴 경계 없이 불가능)      ✗</a:t>
            </a:r>
          </a:p>
          <a:p>
            <a:pPr>
              <a:defRPr sz="1600" b="0">
                <a:solidFill>
                  <a:srgbClr val="188A38"/>
                </a:solidFill>
              </a:defRPr>
            </a:pPr>
            <a:r>
              <a:t>Ending Pool    마지막 64토큰만 풀링 → 의도대로 작동                        ✓</a:t>
            </a:r>
          </a:p>
          <a:p>
            <a:pPr>
              <a:defRPr sz="800" b="0">
                <a:solidFill>
                  <a:srgbClr val="222222"/>
                </a:solidFill>
              </a:defRPr>
            </a:pPr>
          </a:p>
          <a:p>
            <a:pPr>
              <a:defRPr sz="1600" b="0">
                <a:solidFill>
                  <a:srgbClr val="222222"/>
                </a:solidFill>
              </a:defRPr>
            </a:pPr>
            <a:r>
              <a:t>수정 Multi-head (각 헤드가 다른 영역) 재실험 → 기존과 동일 성능</a:t>
            </a:r>
          </a:p>
          <a:p>
            <a:pPr>
              <a:defRPr sz="1500" b="0">
                <a:solidFill>
                  <a:srgbClr val="666666"/>
                </a:solidFill>
              </a:defRPr>
            </a:pPr>
            <a:r>
              <a:t>→ 헤드가 보는 영역보다 보조 스칼라 추가 자체의 효과 (Mean Pool 대비 +3건)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2222"/>
                </a:solidFill>
              </a:defRPr>
            </a:pPr>
            <a:r>
              <a:t>Speaker-aware가 근본적으로 불가능한 이유</a:t>
            </a:r>
          </a:p>
          <a:p>
            <a:pPr>
              <a:defRPr sz="1600" b="0">
                <a:solidFill>
                  <a:srgbClr val="D93025"/>
                </a:solidFill>
              </a:defRPr>
            </a:pPr>
            <a:r>
              <a:t>Test 데이터 86.6%가 턴 구분 없는 공백 텍스트</a:t>
            </a:r>
          </a:p>
          <a:p>
            <a:pPr>
              <a:defRPr sz="1500" b="0">
                <a:solidFill>
                  <a:srgbClr val="666666"/>
                </a:solidFill>
              </a:defRPr>
            </a:pPr>
            <a:r>
              <a:t>→ Train에서 화자를 분리해 학습해도 Test에서 활용 불가. Train-Test 일관성이 전제 조건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2222"/>
                </a:solidFill>
              </a:defRPr>
            </a:pPr>
            <a:r>
              <a:t>후속 실험 — 숏컷 극복 시도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93025"/>
                </a:solidFill>
              </a:defRPr>
            </a:pPr>
            <a:r>
              <a:t>구두점 제거                    Val 0.8805  /  75건  ↓</a:t>
            </a:r>
          </a:p>
          <a:p>
            <a:pPr>
              <a:defRPr sz="1500" b="0">
                <a:solidFill>
                  <a:srgbClr val="666666"/>
                </a:solidFill>
              </a:defRPr>
            </a:pPr>
            <a:r>
              <a:t>  구두점 숏컷은 차단했으나, 위협 데이터의 턴 경계 정보(80.8%)도 같이 손실</a:t>
            </a:r>
          </a:p>
          <a:p>
            <a:pPr>
              <a:defRPr sz="1000" b="0">
                <a:solidFill>
                  <a:srgbClr val="222222"/>
                </a:solidFill>
              </a:defRPr>
            </a:pPr>
          </a:p>
          <a:p>
            <a:pPr>
              <a:defRPr sz="1800" b="1">
                <a:solidFill>
                  <a:srgbClr val="222222"/>
                </a:solidFill>
              </a:defRPr>
            </a:pPr>
            <a:r>
              <a:t>청크 흐름 (전반/후반 비교)    Val 0.8965  /  75건</a:t>
            </a:r>
          </a:p>
          <a:p>
            <a:pPr>
              <a:defRPr sz="1500" b="0">
                <a:solidFill>
                  <a:srgbClr val="666666"/>
                </a:solidFill>
              </a:defRPr>
            </a:pPr>
            <a:r>
              <a:t>  Val은 개선(+1.6%p)되어 구조적 우위 확인. 그러나 구두점 손실로 Test 동일</a:t>
            </a:r>
          </a:p>
          <a:p>
            <a:pPr>
              <a:defRPr sz="1000" b="0">
                <a:solidFill>
                  <a:srgbClr val="222222"/>
                </a:solidFill>
              </a:defRPr>
            </a:pPr>
          </a:p>
          <a:p>
            <a:pPr>
              <a:defRPr sz="1800" b="1">
                <a:solidFill>
                  <a:srgbClr val="222222"/>
                </a:solidFill>
              </a:defRPr>
            </a:pPr>
            <a:r>
              <a:t>지배/복종 피처 (5개 어휘 피처) Val 0.8877  /  83건</a:t>
            </a:r>
          </a:p>
          <a:p>
            <a:pPr>
              <a:defRPr sz="1500" b="0">
                <a:solidFill>
                  <a:srgbClr val="666666"/>
                </a:solidFill>
              </a:defRPr>
            </a:pPr>
            <a:r>
              <a:t>  위협=공존 6~33% vs 일반=공존 0.2%로 뚜렷한 신호. 그러나 수동 어휘 커버리지 한계</a:t>
            </a:r>
          </a:p>
          <a:p>
            <a:pPr>
              <a:defRPr sz="1400" b="0">
                <a:solidFill>
                  <a:srgbClr val="222222"/>
                </a:solidFill>
              </a:defRPr>
            </a:pPr>
          </a:p>
          <a:p>
            <a:pPr>
              <a:defRPr sz="1800" b="1">
                <a:solidFill>
                  <a:srgbClr val="D93025"/>
                </a:solidFill>
              </a:defRPr>
            </a:pPr>
            <a:r>
              <a:t>결론: 모든 구조적 시도가 88건의 벽을 넘지 못함</a:t>
            </a:r>
          </a:p>
          <a:p>
            <a:pPr>
              <a:defRPr sz="1600" b="1">
                <a:solidFill>
                  <a:srgbClr val="1A73E8"/>
                </a:solidFill>
              </a:defRPr>
            </a:pPr>
            <a:r>
              <a:t>→ 합성 데이터의 길이/문체 다양성 확보가 근본 해결책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2222"/>
                </a:solidFill>
              </a:defRPr>
            </a:pPr>
            <a:r>
              <a:t>대화 분류의 본질 — 키워드가 아닌 흐름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</a:defRPr>
            </a:pPr>
            <a:r>
              <a:t>같은 "새끼야 살빼"도 후반부에 따라 클래스가 다름</a:t>
            </a:r>
          </a:p>
          <a:p>
            <a:pPr>
              <a:defRPr sz="800" b="0">
                <a:solidFill>
                  <a:srgbClr val="222222"/>
                </a:solidFill>
              </a:defRPr>
            </a:pPr>
          </a:p>
          <a:p>
            <a:pPr>
              <a:defRPr sz="1800" b="0">
                <a:solidFill>
                  <a:srgbClr val="188A38"/>
                </a:solidFill>
              </a:defRPr>
            </a:pPr>
            <a:r>
              <a:t>일반:     "새끼야 살빼"  →  "팩트라 할말없네"          수긍 (대등)</a:t>
            </a:r>
          </a:p>
          <a:p>
            <a:pPr>
              <a:defRPr sz="1800" b="0">
                <a:solidFill>
                  <a:srgbClr val="D93025"/>
                </a:solidFill>
              </a:defRPr>
            </a:pPr>
            <a:r>
              <a:t>괴롭힘:   "새끼야 살빼"  →  "죄송합니다 그만해주세요"    굴복 (비대칭)</a:t>
            </a:r>
          </a:p>
          <a:p>
            <a:pPr>
              <a:defRPr sz="1000" b="0">
                <a:solidFill>
                  <a:srgbClr val="222222"/>
                </a:solidFill>
              </a:defRPr>
            </a:pPr>
          </a:p>
          <a:p>
            <a:pPr>
              <a:defRPr sz="1800" b="0">
                <a:solidFill>
                  <a:srgbClr val="188A38"/>
                </a:solidFill>
              </a:defRPr>
            </a:pPr>
            <a:r>
              <a:t>일반(게임): "늦으면 다 죽어" → "내가 운전할 테니까"     협력</a:t>
            </a:r>
          </a:p>
          <a:p>
            <a:pPr>
              <a:defRPr sz="1800" b="0">
                <a:solidFill>
                  <a:srgbClr val="D93025"/>
                </a:solidFill>
              </a:defRPr>
            </a:pPr>
            <a:r>
              <a:t>위협(실제): "죽여버린다"   → "시키는 대로 안 하면"      강압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</a:defRPr>
            </a:pPr>
            <a:r>
              <a:t>핵심: 개별 키워드가 아닌 청크 간 관계 (수긍 vs 굴복, 협력 vs 강압)가 분류의 본질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2222"/>
                </a:solidFill>
              </a:defRPr>
            </a:pPr>
            <a:r>
              <a:t>최종 선정 모델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73E8"/>
                </a:solidFill>
              </a:defRPr>
            </a:pPr>
            <a:r>
              <a:t>M3-D-e6  Multi-head  (동결 9층, 6 Epoch)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22222"/>
                </a:solidFill>
              </a:defRPr>
            </a:pPr>
            <a:r>
              <a:t>Val F1 0.9115   |   Test 일반대화 88/100건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2222"/>
                </a:solidFill>
              </a:defRPr>
            </a:pPr>
            <a:r>
              <a:t>설정 요약</a:t>
            </a:r>
          </a:p>
          <a:p>
            <a:pPr>
              <a:defRPr sz="600" b="0">
                <a:solidFill>
                  <a:srgbClr val="222222"/>
                </a:solidFill>
              </a:defRPr>
            </a:pPr>
          </a:p>
          <a:p>
            <a:pPr>
              <a:defRPr sz="1600" b="0">
                <a:solidFill>
                  <a:srgbClr val="222222"/>
                </a:solidFill>
              </a:defRPr>
            </a:pPr>
            <a:r>
              <a:t>모델: klue/roberta-base   |   풀링: Multi-head (Mean Pool + 보조 헤드 3개)</a:t>
            </a:r>
          </a:p>
          <a:p>
            <a:pPr>
              <a:defRPr sz="1600" b="0">
                <a:solidFill>
                  <a:srgbClr val="222222"/>
                </a:solidFill>
              </a:defRPr>
            </a:pPr>
            <a:r>
              <a:t>학습률: Backbone 2e-6 / Head 2e-5 (차등 10배)   |   Label Smoothing: 0.1</a:t>
            </a:r>
          </a:p>
          <a:p>
            <a:pPr>
              <a:defRPr sz="1600" b="0">
                <a:solidFill>
                  <a:srgbClr val="222222"/>
                </a:solidFill>
              </a:defRPr>
            </a:pPr>
            <a:r>
              <a:t>동결: 하위 9층 (학습 파라미터 20%)   |   MAX_LEN: 256   |   Epoch: 6</a:t>
            </a:r>
          </a:p>
          <a:p>
            <a:pPr>
              <a:defRPr sz="1000" b="0">
                <a:solidFill>
                  <a:srgbClr val="222222"/>
                </a:solidFill>
              </a:defRPr>
            </a:pPr>
          </a:p>
          <a:p>
            <a:pPr>
              <a:defRPr sz="1600" b="0">
                <a:solidFill>
                  <a:srgbClr val="D93025"/>
                </a:solidFill>
              </a:defRPr>
            </a:pPr>
            <a:r>
              <a:t>동결 해제(Final Run): Val 0.9248(최고) → Test 77건(최저)</a:t>
            </a:r>
          </a:p>
          <a:p>
            <a:pPr>
              <a:defRPr sz="1600" b="0">
                <a:solidFill>
                  <a:srgbClr val="666666"/>
                </a:solidFill>
              </a:defRPr>
            </a:pPr>
            <a:r>
              <a:t>→ 동결 9층이 과적합 방지 + 사전학습 보존으로 Test 일반화 우수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2222"/>
                </a:solidFill>
              </a:defRPr>
            </a:pPr>
            <a:r>
              <a:t>핵심 교훈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</a:defRPr>
            </a:pPr>
            <a:r>
              <a:t>1.  데이터 분포가 모델 구조를 압도한다</a:t>
            </a:r>
          </a:p>
          <a:p>
            <a:pPr>
              <a:defRPr sz="1500" b="0">
                <a:solidFill>
                  <a:srgbClr val="666666"/>
                </a:solidFill>
              </a:defRPr>
            </a:pPr>
            <a:r>
              <a:t>    합성 일반대화의 길이/문체 불일치가 모든 구조적 시도보다 큰 영향</a:t>
            </a:r>
          </a:p>
          <a:p>
            <a:pPr>
              <a:defRPr sz="1000" b="0">
                <a:solidFill>
                  <a:srgbClr val="222222"/>
                </a:solidFill>
              </a:defRPr>
            </a:pPr>
          </a:p>
          <a:p>
            <a:pPr>
              <a:defRPr sz="2000" b="1">
                <a:solidFill>
                  <a:srgbClr val="1A73E8"/>
                </a:solidFill>
              </a:defRPr>
            </a:pPr>
            <a:r>
              <a:t>2.  Val 맹신 금지</a:t>
            </a:r>
          </a:p>
          <a:p>
            <a:pPr>
              <a:defRPr sz="1500" b="0">
                <a:solidFill>
                  <a:srgbClr val="666666"/>
                </a:solidFill>
              </a:defRPr>
            </a:pPr>
            <a:r>
              <a:t>    Final Run: Val 0.9248(최고) → Test 77건(최저). Val-Test 분포 차이 주의</a:t>
            </a:r>
          </a:p>
          <a:p>
            <a:pPr>
              <a:defRPr sz="1000" b="0">
                <a:solidFill>
                  <a:srgbClr val="222222"/>
                </a:solidFill>
              </a:defRPr>
            </a:pPr>
          </a:p>
          <a:p>
            <a:pPr>
              <a:defRPr sz="2000" b="1">
                <a:solidFill>
                  <a:srgbClr val="1A73E8"/>
                </a:solidFill>
              </a:defRPr>
            </a:pPr>
            <a:r>
              <a:t>3.  설계 의도를 코드 레벨에서 검증하라</a:t>
            </a:r>
          </a:p>
          <a:p>
            <a:pPr>
              <a:defRPr sz="1500" b="0">
                <a:solidFill>
                  <a:srgbClr val="666666"/>
                </a:solidFill>
              </a:defRPr>
            </a:pPr>
            <a:r>
              <a:t>    Speaker-aware, Multi-head가 의도와 다르게 작동 → 만들었으면 확인</a:t>
            </a:r>
          </a:p>
          <a:p>
            <a:pPr>
              <a:defRPr sz="1000" b="0">
                <a:solidFill>
                  <a:srgbClr val="222222"/>
                </a:solidFill>
              </a:defRPr>
            </a:pPr>
          </a:p>
          <a:p>
            <a:pPr>
              <a:defRPr sz="2000" b="1">
                <a:solidFill>
                  <a:srgbClr val="1A73E8"/>
                </a:solidFill>
              </a:defRPr>
            </a:pPr>
            <a:r>
              <a:t>4.  숏컷은 성능 지표에 보이지 않는다</a:t>
            </a:r>
          </a:p>
          <a:p>
            <a:pPr>
              <a:defRPr sz="1500" b="0">
                <a:solidFill>
                  <a:srgbClr val="666666"/>
                </a:solidFill>
              </a:defRPr>
            </a:pPr>
            <a:r>
              <a:t>    마침표별/길이별 분류율 분석으로 비로소 편향 노출</a:t>
            </a:r>
          </a:p>
          <a:p>
            <a:pPr>
              <a:defRPr sz="1000" b="0">
                <a:solidFill>
                  <a:srgbClr val="222222"/>
                </a:solidFill>
              </a:defRPr>
            </a:pPr>
          </a:p>
          <a:p>
            <a:pPr>
              <a:defRPr sz="2000" b="1">
                <a:solidFill>
                  <a:srgbClr val="1A73E8"/>
                </a:solidFill>
              </a:defRPr>
            </a:pPr>
            <a:r>
              <a:t>5.  대화 분류의 본질은 흐름과 역학이다</a:t>
            </a:r>
          </a:p>
          <a:p>
            <a:pPr>
              <a:defRPr sz="1500" b="0">
                <a:solidFill>
                  <a:srgbClr val="666666"/>
                </a:solidFill>
              </a:defRPr>
            </a:pPr>
            <a:r>
              <a:t>    키워드가 아닌 청크 간 관계(수긍 vs 굴복)가 위협과 일반을 가름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</a:defRPr>
            </a:pPr>
            <a:r>
              <a:t>Summary — 전체 실험 결과 및 근거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69848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73E8"/>
                </a:solidFill>
              </a:defRPr>
            </a:pPr>
            <a:r>
              <a:t>실험 결과 전체 비교</a:t>
            </a:r>
          </a:p>
          <a:p>
            <a:pPr>
              <a:defRPr sz="400" b="0">
                <a:solidFill>
                  <a:srgbClr val="222222"/>
                </a:solidFill>
              </a:defRPr>
            </a:pPr>
          </a:p>
          <a:p>
            <a:pPr>
              <a:defRPr sz="1200" b="1">
                <a:solidFill>
                  <a:srgbClr val="666666"/>
                </a:solidFill>
              </a:defRPr>
            </a:pPr>
            <a:r>
              <a:t>Stage 1  모델 선정                                         Val F1</a:t>
            </a:r>
          </a:p>
          <a:p>
            <a:pPr>
              <a:defRPr sz="1100" b="0">
                <a:solidFill>
                  <a:srgbClr val="666666"/>
                </a:solidFill>
              </a:defRPr>
            </a:pPr>
            <a:r>
              <a:t>  B01  KcELECTRA max128                                    0.9219</a:t>
            </a:r>
          </a:p>
          <a:p>
            <a:pPr>
              <a:defRPr sz="1100" b="0">
                <a:solidFill>
                  <a:srgbClr val="222222"/>
                </a:solidFill>
              </a:defRPr>
            </a:pPr>
            <a:r>
              <a:t>  S02  KcELECTRA max256                                    0.9369  (+1.5%p)</a:t>
            </a:r>
          </a:p>
          <a:p>
            <a:pPr>
              <a:defRPr sz="1100" b="0">
                <a:solidFill>
                  <a:srgbClr val="222222"/>
                </a:solidFill>
              </a:defRPr>
            </a:pPr>
            <a:r>
              <a:t>  B02  KcELECTRA 15k균형                                    0.9902  (점프)</a:t>
            </a:r>
          </a:p>
          <a:p>
            <a:pPr>
              <a:defRPr sz="1100" b="1">
                <a:solidFill>
                  <a:srgbClr val="1A73E8"/>
                </a:solidFill>
              </a:defRPr>
            </a:pPr>
            <a:r>
              <a:t>  B04  RoBERTa   15k균형                                    0.9916  ★ 확정</a:t>
            </a:r>
          </a:p>
          <a:p>
            <a:pPr>
              <a:defRPr sz="400" b="0">
                <a:solidFill>
                  <a:srgbClr val="222222"/>
                </a:solidFill>
              </a:defRPr>
            </a:pPr>
          </a:p>
          <a:p>
            <a:pPr>
              <a:defRPr sz="1200" b="1">
                <a:solidFill>
                  <a:srgbClr val="666666"/>
                </a:solidFill>
              </a:defRPr>
            </a:pPr>
            <a:r>
              <a:t>Stage 2  학습 전략                                  Test 일반대화</a:t>
            </a:r>
          </a:p>
          <a:p>
            <a:pPr>
              <a:defRPr sz="1100" b="0">
                <a:solidFill>
                  <a:srgbClr val="222222"/>
                </a:solidFill>
              </a:defRPr>
            </a:pPr>
            <a:r>
              <a:t>  차등LR 1배 / 5배 / 10배                            69  /  74  /  77건</a:t>
            </a:r>
          </a:p>
          <a:p>
            <a:pPr>
              <a:defRPr sz="1100" b="0">
                <a:solidFill>
                  <a:srgbClr val="222222"/>
                </a:solidFill>
              </a:defRPr>
            </a:pPr>
            <a:r>
              <a:t>  Label Smoothing 0.1                                         +3건</a:t>
            </a:r>
          </a:p>
          <a:p>
            <a:pPr>
              <a:defRPr sz="1100" b="0">
                <a:solidFill>
                  <a:srgbClr val="666666"/>
                </a:solidFill>
              </a:defRPr>
            </a:pPr>
            <a:r>
              <a:t>  Dropout 0.1 ≈ 0.3 ≈ 0.5                              차이 없음</a:t>
            </a:r>
          </a:p>
          <a:p>
            <a:pPr>
              <a:defRPr sz="400" b="0">
                <a:solidFill>
                  <a:srgbClr val="222222"/>
                </a:solidFill>
              </a:defRPr>
            </a:pPr>
          </a:p>
          <a:p>
            <a:pPr>
              <a:defRPr sz="1200" b="1">
                <a:solidFill>
                  <a:srgbClr val="666666"/>
                </a:solidFill>
              </a:defRPr>
            </a:pPr>
            <a:r>
              <a:t>Stage 3  풀링 구조 (3ep → 6ep)            Val F1        Test 일반</a:t>
            </a:r>
          </a:p>
          <a:p>
            <a:pPr>
              <a:defRPr sz="1100" b="0">
                <a:solidFill>
                  <a:srgbClr val="222222"/>
                </a:solidFill>
              </a:defRPr>
            </a:pPr>
            <a:r>
              <a:t>  Ending Pooling                      0.8808→0.8994    78→84건</a:t>
            </a:r>
          </a:p>
          <a:p>
            <a:pPr>
              <a:defRPr sz="1100" b="0">
                <a:solidFill>
                  <a:srgbClr val="222222"/>
                </a:solidFill>
              </a:defRPr>
            </a:pPr>
            <a:r>
              <a:t>  Speaker-aware                       0.8947→0.9113    85→85건</a:t>
            </a:r>
          </a:p>
          <a:p>
            <a:pPr>
              <a:defRPr sz="1100" b="1">
                <a:solidFill>
                  <a:srgbClr val="1A73E8"/>
                </a:solidFill>
              </a:defRPr>
            </a:pPr>
            <a:r>
              <a:t>  Multi-head                          0.8848→0.9115    84→88건  ★</a:t>
            </a:r>
          </a:p>
          <a:p>
            <a:pPr>
              <a:defRPr sz="400" b="0">
                <a:solidFill>
                  <a:srgbClr val="222222"/>
                </a:solidFill>
              </a:defRPr>
            </a:pPr>
          </a:p>
          <a:p>
            <a:pPr>
              <a:defRPr sz="1200" b="1">
                <a:solidFill>
                  <a:srgbClr val="666666"/>
                </a:solidFill>
              </a:defRPr>
            </a:pPr>
            <a:r>
              <a:t>후속 실험 (3ep)                          Val F1        Test 일반</a:t>
            </a:r>
          </a:p>
          <a:p>
            <a:pPr>
              <a:defRPr sz="1100" b="0">
                <a:solidFill>
                  <a:srgbClr val="D93025"/>
                </a:solidFill>
              </a:defRPr>
            </a:pPr>
            <a:r>
              <a:t>  동결 해제 (Final, 6ep)                   0.9248           77건  ↓</a:t>
            </a:r>
          </a:p>
          <a:p>
            <a:pPr>
              <a:defRPr sz="1100" b="0">
                <a:solidFill>
                  <a:srgbClr val="D93025"/>
                </a:solidFill>
              </a:defRPr>
            </a:pPr>
            <a:r>
              <a:t>  구두점 제거                              0.8805           75건  ↓</a:t>
            </a:r>
          </a:p>
          <a:p>
            <a:pPr>
              <a:defRPr sz="1100" b="0">
                <a:solidFill>
                  <a:srgbClr val="666666"/>
                </a:solidFill>
              </a:defRPr>
            </a:pPr>
            <a:r>
              <a:t>  청크 흐름 (전반/후반)                     0.8965           75건</a:t>
            </a:r>
          </a:p>
          <a:p>
            <a:pPr>
              <a:defRPr sz="1100" b="0">
                <a:solidFill>
                  <a:srgbClr val="666666"/>
                </a:solidFill>
              </a:defRPr>
            </a:pPr>
            <a:r>
              <a:t>  지배/복종 피처                           0.8877           83건</a:t>
            </a:r>
          </a:p>
          <a:p>
            <a:pPr>
              <a:defRPr sz="1100" b="0">
                <a:solidFill>
                  <a:srgbClr val="666666"/>
                </a:solidFill>
              </a:defRPr>
            </a:pPr>
            <a:r>
              <a:t>  수정 Multi-head                        0.8848           84건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822960"/>
            <a:ext cx="4114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73E8"/>
                </a:solidFill>
              </a:defRPr>
            </a:pPr>
            <a:r>
              <a:t>핵심 근거</a:t>
            </a:r>
          </a:p>
          <a:p>
            <a:pPr>
              <a:defRPr sz="400" b="0">
                <a:solidFill>
                  <a:srgbClr val="222222"/>
                </a:solidFill>
              </a:defRPr>
            </a:pPr>
          </a:p>
          <a:p>
            <a:pPr>
              <a:defRPr sz="1200" b="0">
                <a:solidFill>
                  <a:srgbClr val="222222"/>
                </a:solidFill>
              </a:defRPr>
            </a:pPr>
            <a:r>
              <a:t>마침표 0개 → 일반 예측 50.7%</a:t>
            </a:r>
          </a:p>
          <a:p>
            <a:pPr>
              <a:defRPr sz="1200" b="0">
                <a:solidFill>
                  <a:srgbClr val="D93025"/>
                </a:solidFill>
              </a:defRPr>
            </a:pPr>
            <a:r>
              <a:t>마침표 1+개 → 일반 예측 3.2%</a:t>
            </a:r>
          </a:p>
          <a:p>
            <a:pPr>
              <a:defRPr sz="400" b="0">
                <a:solidFill>
                  <a:srgbClr val="222222"/>
                </a:solidFill>
              </a:defRPr>
            </a:pPr>
          </a:p>
          <a:p>
            <a:pPr>
              <a:defRPr sz="1200" b="0">
                <a:solidFill>
                  <a:srgbClr val="D93025"/>
                </a:solidFill>
              </a:defRPr>
            </a:pPr>
            <a:r>
              <a:t>길이 251자+ → 일반 예측 7.1%</a:t>
            </a:r>
          </a:p>
          <a:p>
            <a:pPr>
              <a:defRPr sz="1200" b="0">
                <a:solidFill>
                  <a:srgbClr val="666666"/>
                </a:solidFill>
              </a:defRPr>
            </a:pPr>
            <a:r>
              <a:t>Train 일반 122자 vs 위협 214자</a:t>
            </a:r>
          </a:p>
          <a:p>
            <a:pPr>
              <a:defRPr sz="400" b="0">
                <a:solidFill>
                  <a:srgbClr val="222222"/>
                </a:solidFill>
              </a:defRPr>
            </a:pPr>
          </a:p>
          <a:p>
            <a:pPr>
              <a:defRPr sz="1200" b="1">
                <a:solidFill>
                  <a:srgbClr val="222222"/>
                </a:solidFill>
              </a:defRPr>
            </a:pPr>
            <a:r>
              <a:t>지배+복종 공존율:</a:t>
            </a:r>
          </a:p>
          <a:p>
            <a:pPr>
              <a:defRPr sz="1200" b="0">
                <a:solidFill>
                  <a:srgbClr val="222222"/>
                </a:solidFill>
              </a:defRPr>
            </a:pPr>
            <a:r>
              <a:t>  협박 33% / 갈취 15% / 일반 0.2%</a:t>
            </a:r>
          </a:p>
          <a:p>
            <a:pPr>
              <a:defRPr sz="400" b="0">
                <a:solidFill>
                  <a:srgbClr val="222222"/>
                </a:solidFill>
              </a:defRPr>
            </a:pPr>
          </a:p>
          <a:p>
            <a:pPr>
              <a:defRPr sz="1200" b="0">
                <a:solidFill>
                  <a:srgbClr val="222222"/>
                </a:solidFill>
              </a:defRPr>
            </a:pPr>
            <a:r>
              <a:t>Test 86.6% 턴 구분 없는 텍스트</a:t>
            </a:r>
          </a:p>
          <a:p>
            <a:pPr>
              <a:defRPr sz="1200" b="0">
                <a:solidFill>
                  <a:srgbClr val="666666"/>
                </a:solidFill>
              </a:defRPr>
            </a:pPr>
            <a:r>
              <a:t>→ Speaker-aware 근본적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36576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73E8"/>
                </a:solidFill>
              </a:defRPr>
            </a:pPr>
            <a:r>
              <a:t>최종 결론</a:t>
            </a:r>
          </a:p>
          <a:p>
            <a:pPr>
              <a:defRPr sz="400" b="0">
                <a:solidFill>
                  <a:srgbClr val="222222"/>
                </a:solidFill>
              </a:defRPr>
            </a:pPr>
          </a:p>
          <a:p>
            <a:pPr>
              <a:defRPr sz="1300" b="1">
                <a:solidFill>
                  <a:srgbClr val="222222"/>
                </a:solidFill>
              </a:defRPr>
            </a:pPr>
            <a:r>
              <a:t>선정: M3-D Multi-head 6ep</a:t>
            </a:r>
          </a:p>
          <a:p>
            <a:pPr>
              <a:defRPr sz="1300" b="1">
                <a:solidFill>
                  <a:srgbClr val="1A73E8"/>
                </a:solidFill>
              </a:defRPr>
            </a:pPr>
            <a:r>
              <a:t>Val 0.9115 / Test 88건</a:t>
            </a:r>
          </a:p>
          <a:p>
            <a:pPr>
              <a:defRPr sz="400" b="0">
                <a:solidFill>
                  <a:srgbClr val="222222"/>
                </a:solidFill>
              </a:defRPr>
            </a:pPr>
          </a:p>
          <a:p>
            <a:pPr>
              <a:defRPr sz="1200" b="1">
                <a:solidFill>
                  <a:srgbClr val="222222"/>
                </a:solidFill>
              </a:defRPr>
            </a:pPr>
            <a:r>
              <a:t>모델 구조 한계:</a:t>
            </a:r>
          </a:p>
          <a:p>
            <a:pPr>
              <a:defRPr sz="1200" b="0">
                <a:solidFill>
                  <a:srgbClr val="D93025"/>
                </a:solidFill>
              </a:defRPr>
            </a:pPr>
            <a:r>
              <a:t>  88건 벽 = 데이터 병목</a:t>
            </a:r>
          </a:p>
          <a:p>
            <a:pPr>
              <a:defRPr sz="1200" b="0">
                <a:solidFill>
                  <a:srgbClr val="D93025"/>
                </a:solidFill>
              </a:defRPr>
            </a:pPr>
            <a:r>
              <a:t>  합성 일반대화 분포 불일치</a:t>
            </a:r>
          </a:p>
          <a:p>
            <a:pPr>
              <a:defRPr sz="400" b="0">
                <a:solidFill>
                  <a:srgbClr val="222222"/>
                </a:solidFill>
              </a:defRPr>
            </a:pPr>
          </a:p>
          <a:p>
            <a:pPr>
              <a:defRPr sz="1200" b="1">
                <a:solidFill>
                  <a:srgbClr val="222222"/>
                </a:solidFill>
              </a:defRPr>
            </a:pPr>
            <a:r>
              <a:t>개선 방향:</a:t>
            </a:r>
          </a:p>
          <a:p>
            <a:pPr>
              <a:defRPr sz="1200" b="0">
                <a:solidFill>
                  <a:srgbClr val="188A38"/>
                </a:solidFill>
              </a:defRPr>
            </a:pPr>
            <a:r>
              <a:t>  합성 데이터 길이/문체 다양성</a:t>
            </a:r>
          </a:p>
          <a:p>
            <a:pPr>
              <a:defRPr sz="1200" b="0">
                <a:solidFill>
                  <a:srgbClr val="188A38"/>
                </a:solidFill>
              </a:defRPr>
            </a:pPr>
            <a:r>
              <a:t>  대화 흐름(청크) 기반 구조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